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67E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FFFFFF"/>
                </a:solidFill>
              </a:defRPr>
            </a:pPr>
            <a:r>
              <a:t>On-Device AI Intelligence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38328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FFFFFF"/>
                </a:solidFill>
              </a:defRPr>
            </a:pPr>
            <a:r>
              <a:t>Research Intelligence Report • March 11,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8C8C8"/>
                </a:solidFill>
              </a:defRPr>
            </a:pPr>
            <a:r>
              <a:t>6 Papers Analyzed • Hybrid RAG + Multi-Model AI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400">
                <a:solidFill>
                  <a:srgbClr val="667EEA"/>
                </a:solidFill>
              </a:defRPr>
            </a:pPr>
            <a:r>
              <a:t>Executive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2400">
                <a:solidFill>
                  <a:srgbClr val="2D3748"/>
                </a:solidFill>
              </a:defRPr>
            </a:pPr>
            <a:r>
              <a:t>📊 Total Papers: 6</a:t>
            </a:r>
          </a:p>
          <a:p>
            <a:pPr>
              <a:spcBef>
                <a:spcPts val="1200"/>
              </a:spcBef>
              <a:defRPr sz="2400">
                <a:solidFill>
                  <a:srgbClr val="2D3748"/>
                </a:solidFill>
              </a:defRPr>
            </a:pPr>
            <a:r>
              <a:t>⭐ Average Score: 0.9/100</a:t>
            </a:r>
          </a:p>
          <a:p>
            <a:pPr>
              <a:spcBef>
                <a:spcPts val="1200"/>
              </a:spcBef>
              <a:defRPr sz="2400">
                <a:solidFill>
                  <a:srgbClr val="2D3748"/>
                </a:solidFill>
              </a:defRPr>
            </a:pPr>
            <a:r>
              <a:t>📱 Mobile Papers: 4</a:t>
            </a:r>
          </a:p>
          <a:p>
            <a:pPr>
              <a:spcBef>
                <a:spcPts val="1200"/>
              </a:spcBef>
              <a:defRPr sz="2400">
                <a:solidFill>
                  <a:srgbClr val="2D3748"/>
                </a:solidFill>
              </a:defRPr>
            </a:pPr>
            <a:r>
              <a:t>💻 Laptop Papers: 1</a:t>
            </a:r>
          </a:p>
          <a:p>
            <a:pPr>
              <a:spcBef>
                <a:spcPts val="1200"/>
              </a:spcBef>
              <a:defRPr sz="2400">
                <a:solidFill>
                  <a:srgbClr val="2D3748"/>
                </a:solidFill>
              </a:defRPr>
            </a:pPr>
            <a:r>
              <a:t>🔥 High Impact: 2 papers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400">
                <a:solidFill>
                  <a:srgbClr val="667EEA"/>
                </a:solidFill>
              </a:defRPr>
            </a:pPr>
            <a:r>
              <a:t>Key Findings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800">
                <a:solidFill>
                  <a:srgbClr val="2D3748"/>
                </a:solidFill>
              </a:defRPr>
            </a:pPr>
            <a:r>
              <a:t>🎯 Top Optimization Techniques:</a:t>
            </a:r>
          </a:p>
          <a:p>
            <a:pPr>
              <a:spcBef>
                <a:spcPts val="600"/>
              </a:spcBef>
              <a:defRPr sz="1800">
                <a:solidFill>
                  <a:srgbClr val="2D3748"/>
                </a:solidFill>
              </a:defRPr>
            </a:pPr>
            <a:r>
              <a:t>   • INT8: 1 papers</a:t>
            </a:r>
          </a:p>
          <a:p>
            <a:pPr>
              <a:spcBef>
                <a:spcPts val="600"/>
              </a:spcBef>
              <a:defRPr sz="1800">
                <a:solidFill>
                  <a:srgbClr val="2D3748"/>
                </a:solidFill>
              </a:defRPr>
            </a:pPr>
            <a:r>
              <a:t>   • Pruning: 1 papers</a:t>
            </a:r>
          </a:p>
          <a:p>
            <a:pPr>
              <a:spcBef>
                <a:spcPts val="600"/>
              </a:spcBef>
              <a:defRPr sz="1800">
                <a:solidFill>
                  <a:srgbClr val="2D3748"/>
                </a:solidFill>
              </a:defRPr>
            </a:pPr>
            <a:r>
              <a:t>   • Distillation: 1 papers</a:t>
            </a:r>
          </a:p>
          <a:p>
            <a:pPr>
              <a:spcBef>
                <a:spcPts val="600"/>
              </a:spcBef>
              <a:defRPr sz="1800">
                <a:solidFill>
                  <a:srgbClr val="2D3748"/>
                </a:solidFill>
              </a:defRPr>
            </a:pPr>
          </a:p>
          <a:p>
            <a:pPr>
              <a:spcBef>
                <a:spcPts val="600"/>
              </a:spcBef>
              <a:defRPr sz="1800">
                <a:solidFill>
                  <a:srgbClr val="2D3748"/>
                </a:solidFill>
              </a:defRPr>
            </a:pPr>
            <a:r>
              <a:t>💡 Key Insights:</a:t>
            </a:r>
          </a:p>
          <a:p>
            <a:pPr>
              <a:spcBef>
                <a:spcPts val="600"/>
              </a:spcBef>
              <a:defRPr sz="1800">
                <a:solidFill>
                  <a:srgbClr val="2D3748"/>
                </a:solidFill>
              </a:defRPr>
            </a:pPr>
            <a:r>
              <a:t>   • Strong focus on DRAM bandwidth optimization</a:t>
            </a:r>
          </a:p>
          <a:p>
            <a:pPr>
              <a:spcBef>
                <a:spcPts val="600"/>
              </a:spcBef>
              <a:defRPr sz="1800">
                <a:solidFill>
                  <a:srgbClr val="2D3748"/>
                </a:solidFill>
              </a:defRPr>
            </a:pPr>
            <a:r>
              <a:t>   • Quantization methods are trending across platforms</a:t>
            </a:r>
          </a:p>
          <a:p>
            <a:pPr>
              <a:spcBef>
                <a:spcPts val="600"/>
              </a:spcBef>
              <a:defRPr sz="1800">
                <a:solidFill>
                  <a:srgbClr val="2D3748"/>
                </a:solidFill>
              </a:defRPr>
            </a:pPr>
            <a:r>
              <a:t>   • Mobile inference optimization is a primary concern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>
                <a:solidFill>
                  <a:srgbClr val="667EEA"/>
                </a:solidFill>
              </a:defRPr>
            </a:pPr>
            <a:r>
              <a:t>#1: INT8 Quantization: Achieving 4x Model Compression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600" b="1">
                <a:solidFill>
                  <a:srgbClr val="2D3748"/>
                </a:solidFill>
              </a:defRPr>
            </a:pPr>
            <a:r>
              <a:t>Score: 0.98/100 | Platform: Mobile | Model: Transformer</a:t>
            </a:r>
          </a:p>
          <a:p>
            <a:pPr>
              <a:spcBef>
                <a:spcPts val="400"/>
              </a:spcBef>
              <a:defRPr sz="1600">
                <a:solidFill>
                  <a:srgbClr val="2D3748"/>
                </a:solidFill>
              </a:defRPr>
            </a:pPr>
            <a:r>
              <a:t>DRAM Impact: High</a:t>
            </a:r>
          </a:p>
          <a:p>
            <a:pPr>
              <a:spcBef>
                <a:spcPts val="400"/>
              </a:spcBef>
              <a:defRPr sz="1600" b="1">
                <a:solidFill>
                  <a:srgbClr val="2D3748"/>
                </a:solidFill>
              </a:defRPr>
            </a:pPr>
          </a:p>
          <a:p>
            <a:pPr>
              <a:spcBef>
                <a:spcPts val="400"/>
              </a:spcBef>
              <a:defRPr sz="1600">
                <a:solidFill>
                  <a:srgbClr val="2D3748"/>
                </a:solidFill>
              </a:defRPr>
            </a:pPr>
            <a:r>
              <a:t>💾 Memory Insight:</a:t>
            </a:r>
          </a:p>
          <a:p>
            <a:pPr>
              <a:spcBef>
                <a:spcPts val="400"/>
              </a:spcBef>
              <a:defRPr sz="1600" b="1">
                <a:solidFill>
                  <a:srgbClr val="2D3748"/>
                </a:solidFill>
              </a:defRPr>
            </a:pPr>
            <a:r>
              <a:t>INT8 reduces DRAM bandwidth by 75% with minimal accuracy loss</a:t>
            </a:r>
          </a:p>
          <a:p>
            <a:pPr>
              <a:spcBef>
                <a:spcPts val="400"/>
              </a:spcBef>
              <a:defRPr sz="1600">
                <a:solidFill>
                  <a:srgbClr val="2D3748"/>
                </a:solidFill>
              </a:defRPr>
            </a:pPr>
          </a:p>
          <a:p>
            <a:pPr>
              <a:spcBef>
                <a:spcPts val="400"/>
              </a:spcBef>
              <a:defRPr sz="1600" b="1">
                <a:solidFill>
                  <a:srgbClr val="2D3748"/>
                </a:solidFill>
              </a:defRPr>
            </a:pPr>
            <a:r>
              <a:t>⚙️ Engineering Takeaway:</a:t>
            </a:r>
          </a:p>
          <a:p>
            <a:pPr>
              <a:spcBef>
                <a:spcPts val="400"/>
              </a:spcBef>
              <a:defRPr sz="1600">
                <a:solidFill>
                  <a:srgbClr val="2D3748"/>
                </a:solidFill>
              </a:defRPr>
            </a:pPr>
            <a:r>
              <a:t>Implement INT8 quantization in production for 4x speedup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>
                <a:solidFill>
                  <a:srgbClr val="667EEA"/>
                </a:solidFill>
              </a:defRPr>
            </a:pPr>
            <a:r>
              <a:t>#2: On-Device LLM Inference: Techniques and Trade-offs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600" b="1">
                <a:solidFill>
                  <a:srgbClr val="2D3748"/>
                </a:solidFill>
              </a:defRPr>
            </a:pPr>
            <a:r>
              <a:t>Score: 0.95/100 | Platform: Mobile | Model: LLM</a:t>
            </a:r>
          </a:p>
          <a:p>
            <a:pPr>
              <a:spcBef>
                <a:spcPts val="400"/>
              </a:spcBef>
              <a:defRPr sz="1600">
                <a:solidFill>
                  <a:srgbClr val="2D3748"/>
                </a:solidFill>
              </a:defRPr>
            </a:pPr>
            <a:r>
              <a:t>DRAM Impact: High</a:t>
            </a:r>
          </a:p>
          <a:p>
            <a:pPr>
              <a:spcBef>
                <a:spcPts val="400"/>
              </a:spcBef>
              <a:defRPr sz="1600" b="1">
                <a:solidFill>
                  <a:srgbClr val="2D3748"/>
                </a:solidFill>
              </a:defRPr>
            </a:pPr>
          </a:p>
          <a:p>
            <a:pPr>
              <a:spcBef>
                <a:spcPts val="400"/>
              </a:spcBef>
              <a:defRPr sz="1600">
                <a:solidFill>
                  <a:srgbClr val="2D3748"/>
                </a:solidFill>
              </a:defRPr>
            </a:pPr>
            <a:r>
              <a:t>💾 Memory Insight:</a:t>
            </a:r>
          </a:p>
          <a:p>
            <a:pPr>
              <a:spcBef>
                <a:spcPts val="400"/>
              </a:spcBef>
              <a:defRPr sz="1600" b="1">
                <a:solidFill>
                  <a:srgbClr val="2D3748"/>
                </a:solidFill>
              </a:defRPr>
            </a:pPr>
            <a:r>
              <a:t>Batching and caching reduce latency</a:t>
            </a:r>
          </a:p>
          <a:p>
            <a:pPr>
              <a:spcBef>
                <a:spcPts val="400"/>
              </a:spcBef>
              <a:defRPr sz="1600">
                <a:solidFill>
                  <a:srgbClr val="2D3748"/>
                </a:solidFill>
              </a:defRPr>
            </a:pPr>
          </a:p>
          <a:p>
            <a:pPr>
              <a:spcBef>
                <a:spcPts val="400"/>
              </a:spcBef>
              <a:defRPr sz="1600" b="1">
                <a:solidFill>
                  <a:srgbClr val="2D3748"/>
                </a:solidFill>
              </a:defRPr>
            </a:pPr>
            <a:r>
              <a:t>⚙️ Engineering Takeaway:</a:t>
            </a:r>
          </a:p>
          <a:p>
            <a:pPr>
              <a:spcBef>
                <a:spcPts val="400"/>
              </a:spcBef>
              <a:defRPr sz="1600">
                <a:solidFill>
                  <a:srgbClr val="2D3748"/>
                </a:solidFill>
              </a:defRPr>
            </a:pPr>
            <a:r>
              <a:t>Implement aggressive batching and KV caching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>
                <a:solidFill>
                  <a:srgbClr val="667EEA"/>
                </a:solidFill>
              </a:defRPr>
            </a:pPr>
            <a:r>
              <a:t>#3: Structured Pruning for Edge AI: A Comprehensive 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600" b="1">
                <a:solidFill>
                  <a:srgbClr val="2D3748"/>
                </a:solidFill>
              </a:defRPr>
            </a:pPr>
            <a:r>
              <a:t>Score: 0.92/100 | Platform: Edge | Model: CNN</a:t>
            </a:r>
          </a:p>
          <a:p>
            <a:pPr>
              <a:spcBef>
                <a:spcPts val="400"/>
              </a:spcBef>
              <a:defRPr sz="1600">
                <a:solidFill>
                  <a:srgbClr val="2D3748"/>
                </a:solidFill>
              </a:defRPr>
            </a:pPr>
            <a:r>
              <a:t>DRAM Impact: Medium</a:t>
            </a:r>
          </a:p>
          <a:p>
            <a:pPr>
              <a:spcBef>
                <a:spcPts val="400"/>
              </a:spcBef>
              <a:defRPr sz="1600" b="1">
                <a:solidFill>
                  <a:srgbClr val="2D3748"/>
                </a:solidFill>
              </a:defRPr>
            </a:pPr>
          </a:p>
          <a:p>
            <a:pPr>
              <a:spcBef>
                <a:spcPts val="400"/>
              </a:spcBef>
              <a:defRPr sz="1600">
                <a:solidFill>
                  <a:srgbClr val="2D3748"/>
                </a:solidFill>
              </a:defRPr>
            </a:pPr>
            <a:r>
              <a:t>💾 Memory Insight:</a:t>
            </a:r>
          </a:p>
          <a:p>
            <a:pPr>
              <a:spcBef>
                <a:spcPts val="400"/>
              </a:spcBef>
              <a:defRPr sz="1600" b="1">
                <a:solidFill>
                  <a:srgbClr val="2D3748"/>
                </a:solidFill>
              </a:defRPr>
            </a:pPr>
            <a:r>
              <a:t>Achieve 50% sparsity with structured pruning</a:t>
            </a:r>
          </a:p>
          <a:p>
            <a:pPr>
              <a:spcBef>
                <a:spcPts val="400"/>
              </a:spcBef>
              <a:defRPr sz="1600">
                <a:solidFill>
                  <a:srgbClr val="2D3748"/>
                </a:solidFill>
              </a:defRPr>
            </a:pPr>
          </a:p>
          <a:p>
            <a:pPr>
              <a:spcBef>
                <a:spcPts val="400"/>
              </a:spcBef>
              <a:defRPr sz="1600" b="1">
                <a:solidFill>
                  <a:srgbClr val="2D3748"/>
                </a:solidFill>
              </a:defRPr>
            </a:pPr>
            <a:r>
              <a:t>⚙️ Engineering Takeaway:</a:t>
            </a:r>
          </a:p>
          <a:p>
            <a:pPr>
              <a:spcBef>
                <a:spcPts val="400"/>
              </a:spcBef>
              <a:defRPr sz="1600">
                <a:solidFill>
                  <a:srgbClr val="2D3748"/>
                </a:solidFill>
              </a:defRPr>
            </a:pPr>
            <a:r>
              <a:t>Use fine-grained structured pruning for mobile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>
                <a:solidFill>
                  <a:srgbClr val="667EEA"/>
                </a:solidFill>
              </a:defRPr>
            </a:pPr>
            <a:r>
              <a:t>#4: Knowledge Distillation for Efficient Mobile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600" b="1">
                <a:solidFill>
                  <a:srgbClr val="2D3748"/>
                </a:solidFill>
              </a:defRPr>
            </a:pPr>
            <a:r>
              <a:t>Score: 0.89/100 | Platform: Mobile | Model: BERT</a:t>
            </a:r>
          </a:p>
          <a:p>
            <a:pPr>
              <a:spcBef>
                <a:spcPts val="400"/>
              </a:spcBef>
              <a:defRPr sz="1600">
                <a:solidFill>
                  <a:srgbClr val="2D3748"/>
                </a:solidFill>
              </a:defRPr>
            </a:pPr>
            <a:r>
              <a:t>DRAM Impact: Low</a:t>
            </a:r>
          </a:p>
          <a:p>
            <a:pPr>
              <a:spcBef>
                <a:spcPts val="400"/>
              </a:spcBef>
              <a:defRPr sz="1600" b="1">
                <a:solidFill>
                  <a:srgbClr val="2D3748"/>
                </a:solidFill>
              </a:defRPr>
            </a:pPr>
          </a:p>
          <a:p>
            <a:pPr>
              <a:spcBef>
                <a:spcPts val="400"/>
              </a:spcBef>
              <a:defRPr sz="1600">
                <a:solidFill>
                  <a:srgbClr val="2D3748"/>
                </a:solidFill>
              </a:defRPr>
            </a:pPr>
            <a:r>
              <a:t>💾 Memory Insight:</a:t>
            </a:r>
          </a:p>
          <a:p>
            <a:pPr>
              <a:spcBef>
                <a:spcPts val="400"/>
              </a:spcBef>
              <a:defRPr sz="1600" b="1">
                <a:solidFill>
                  <a:srgbClr val="2D3748"/>
                </a:solidFill>
              </a:defRPr>
            </a:pPr>
            <a:r>
              <a:t>Student models 6x smaller than teacher</a:t>
            </a:r>
          </a:p>
          <a:p>
            <a:pPr>
              <a:spcBef>
                <a:spcPts val="400"/>
              </a:spcBef>
              <a:defRPr sz="1600">
                <a:solidFill>
                  <a:srgbClr val="2D3748"/>
                </a:solidFill>
              </a:defRPr>
            </a:pPr>
          </a:p>
          <a:p>
            <a:pPr>
              <a:spcBef>
                <a:spcPts val="400"/>
              </a:spcBef>
              <a:defRPr sz="1600" b="1">
                <a:solidFill>
                  <a:srgbClr val="2D3748"/>
                </a:solidFill>
              </a:defRPr>
            </a:pPr>
            <a:r>
              <a:t>⚙️ Engineering Takeaway:</a:t>
            </a:r>
          </a:p>
          <a:p>
            <a:pPr>
              <a:spcBef>
                <a:spcPts val="400"/>
              </a:spcBef>
              <a:defRPr sz="1600">
                <a:solidFill>
                  <a:srgbClr val="2D3748"/>
                </a:solidFill>
              </a:defRPr>
            </a:pPr>
            <a:r>
              <a:t>Implement knowledge distillation pipeline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>
                <a:solidFill>
                  <a:srgbClr val="667EEA"/>
                </a:solidFill>
              </a:defRPr>
            </a:pPr>
            <a:r>
              <a:t>#5: Mixed Precision Training for Efficient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600" b="1">
                <a:solidFill>
                  <a:srgbClr val="2D3748"/>
                </a:solidFill>
              </a:defRPr>
            </a:pPr>
            <a:r>
              <a:t>Score: 0.88/100 | Platform: Laptop | Model: ResNet</a:t>
            </a:r>
          </a:p>
          <a:p>
            <a:pPr>
              <a:spcBef>
                <a:spcPts val="400"/>
              </a:spcBef>
              <a:defRPr sz="1600">
                <a:solidFill>
                  <a:srgbClr val="2D3748"/>
                </a:solidFill>
              </a:defRPr>
            </a:pPr>
            <a:r>
              <a:t>DRAM Impact: Medium</a:t>
            </a:r>
          </a:p>
          <a:p>
            <a:pPr>
              <a:spcBef>
                <a:spcPts val="400"/>
              </a:spcBef>
              <a:defRPr sz="1600" b="1">
                <a:solidFill>
                  <a:srgbClr val="2D3748"/>
                </a:solidFill>
              </a:defRPr>
            </a:pPr>
          </a:p>
          <a:p>
            <a:pPr>
              <a:spcBef>
                <a:spcPts val="400"/>
              </a:spcBef>
              <a:defRPr sz="1600">
                <a:solidFill>
                  <a:srgbClr val="2D3748"/>
                </a:solidFill>
              </a:defRPr>
            </a:pPr>
            <a:r>
              <a:t>💾 Memory Insight:</a:t>
            </a:r>
          </a:p>
          <a:p>
            <a:pPr>
              <a:spcBef>
                <a:spcPts val="400"/>
              </a:spcBef>
              <a:defRPr sz="1600" b="1">
                <a:solidFill>
                  <a:srgbClr val="2D3748"/>
                </a:solidFill>
              </a:defRPr>
            </a:pPr>
            <a:r>
              <a:t>Mixed precision reduces memory by 40%</a:t>
            </a:r>
          </a:p>
          <a:p>
            <a:pPr>
              <a:spcBef>
                <a:spcPts val="400"/>
              </a:spcBef>
              <a:defRPr sz="1600">
                <a:solidFill>
                  <a:srgbClr val="2D3748"/>
                </a:solidFill>
              </a:defRPr>
            </a:pPr>
          </a:p>
          <a:p>
            <a:pPr>
              <a:spcBef>
                <a:spcPts val="400"/>
              </a:spcBef>
              <a:defRPr sz="1600" b="1">
                <a:solidFill>
                  <a:srgbClr val="2D3748"/>
                </a:solidFill>
              </a:defRPr>
            </a:pPr>
            <a:r>
              <a:t>⚙️ Engineering Takeaway:</a:t>
            </a:r>
          </a:p>
          <a:p>
            <a:pPr>
              <a:spcBef>
                <a:spcPts val="400"/>
              </a:spcBef>
              <a:defRPr sz="1600">
                <a:solidFill>
                  <a:srgbClr val="2D3748"/>
                </a:solidFill>
              </a:defRPr>
            </a:pPr>
            <a:r>
              <a:t>Use mixed precision for training and inference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>
                <a:solidFill>
                  <a:srgbClr val="667EEA"/>
                </a:solidFill>
              </a:defRPr>
            </a:pPr>
            <a:r>
              <a:t>#6: Neural Architecture Search for Efficient Mobile Mo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600" b="1">
                <a:solidFill>
                  <a:srgbClr val="2D3748"/>
                </a:solidFill>
              </a:defRPr>
            </a:pPr>
            <a:r>
              <a:t>Score: 0.86/100 | Platform: Mobile | Model: MobileNet</a:t>
            </a:r>
          </a:p>
          <a:p>
            <a:pPr>
              <a:spcBef>
                <a:spcPts val="400"/>
              </a:spcBef>
              <a:defRPr sz="1600">
                <a:solidFill>
                  <a:srgbClr val="2D3748"/>
                </a:solidFill>
              </a:defRPr>
            </a:pPr>
            <a:r>
              <a:t>DRAM Impact: Medium</a:t>
            </a:r>
          </a:p>
          <a:p>
            <a:pPr>
              <a:spcBef>
                <a:spcPts val="400"/>
              </a:spcBef>
              <a:defRPr sz="1600" b="1">
                <a:solidFill>
                  <a:srgbClr val="2D3748"/>
                </a:solidFill>
              </a:defRPr>
            </a:pPr>
          </a:p>
          <a:p>
            <a:pPr>
              <a:spcBef>
                <a:spcPts val="400"/>
              </a:spcBef>
              <a:defRPr sz="1600">
                <a:solidFill>
                  <a:srgbClr val="2D3748"/>
                </a:solidFill>
              </a:defRPr>
            </a:pPr>
            <a:r>
              <a:t>💾 Memory Insight:</a:t>
            </a:r>
          </a:p>
          <a:p>
            <a:pPr>
              <a:spcBef>
                <a:spcPts val="400"/>
              </a:spcBef>
              <a:defRPr sz="1600" b="1">
                <a:solidFill>
                  <a:srgbClr val="2D3748"/>
                </a:solidFill>
              </a:defRPr>
            </a:pPr>
            <a:r>
              <a:t>NAS finds models 40% smaller automatically</a:t>
            </a:r>
          </a:p>
          <a:p>
            <a:pPr>
              <a:spcBef>
                <a:spcPts val="400"/>
              </a:spcBef>
              <a:defRPr sz="1600">
                <a:solidFill>
                  <a:srgbClr val="2D3748"/>
                </a:solidFill>
              </a:defRPr>
            </a:pPr>
          </a:p>
          <a:p>
            <a:pPr>
              <a:spcBef>
                <a:spcPts val="400"/>
              </a:spcBef>
              <a:defRPr sz="1600" b="1">
                <a:solidFill>
                  <a:srgbClr val="2D3748"/>
                </a:solidFill>
              </a:defRPr>
            </a:pPr>
            <a:r>
              <a:t>⚙️ Engineering Takeaway:</a:t>
            </a:r>
          </a:p>
          <a:p>
            <a:pPr>
              <a:spcBef>
                <a:spcPts val="400"/>
              </a:spcBef>
              <a:defRPr sz="1600">
                <a:solidFill>
                  <a:srgbClr val="2D3748"/>
                </a:solidFill>
              </a:defRPr>
            </a:pPr>
            <a:r>
              <a:t>Deploy NAS-discovered architectures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400">
                <a:solidFill>
                  <a:srgbClr val="667EEA"/>
                </a:solidFill>
              </a:defRPr>
            </a:pPr>
            <a:r>
              <a:t>Research Trends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800">
                <a:solidFill>
                  <a:srgbClr val="2D3748"/>
                </a:solidFill>
              </a:defRPr>
            </a:pPr>
            <a:r>
              <a:t>📈 Most Active Sources:</a:t>
            </a:r>
          </a:p>
          <a:p>
            <a:pPr>
              <a:spcBef>
                <a:spcPts val="600"/>
              </a:spcBef>
              <a:defRPr sz="1800">
                <a:solidFill>
                  <a:srgbClr val="2D3748"/>
                </a:solidFill>
              </a:defRPr>
            </a:pPr>
            <a:r>
              <a:t>   • arXiv: 4 papers</a:t>
            </a:r>
          </a:p>
          <a:p>
            <a:pPr>
              <a:spcBef>
                <a:spcPts val="600"/>
              </a:spcBef>
              <a:defRPr sz="1800">
                <a:solidFill>
                  <a:srgbClr val="2D3748"/>
                </a:solidFill>
              </a:defRPr>
            </a:pPr>
            <a:r>
              <a:t>   • Papers with Code: 2 papers</a:t>
            </a:r>
          </a:p>
          <a:p>
            <a:pPr>
              <a:spcBef>
                <a:spcPts val="600"/>
              </a:spcBef>
              <a:defRPr sz="1800">
                <a:solidFill>
                  <a:srgbClr val="2D3748"/>
                </a:solidFill>
              </a:defRPr>
            </a:pPr>
          </a:p>
          <a:p>
            <a:pPr>
              <a:spcBef>
                <a:spcPts val="600"/>
              </a:spcBef>
              <a:defRPr sz="1800">
                <a:solidFill>
                  <a:srgbClr val="2D3748"/>
                </a:solidFill>
              </a:defRPr>
            </a:pPr>
            <a:r>
              <a:t>🔮 Emerging Patterns:</a:t>
            </a:r>
          </a:p>
          <a:p>
            <a:pPr>
              <a:spcBef>
                <a:spcPts val="600"/>
              </a:spcBef>
              <a:defRPr sz="1800">
                <a:solidFill>
                  <a:srgbClr val="2D3748"/>
                </a:solidFill>
              </a:defRPr>
            </a:pPr>
            <a:r>
              <a:t>   • Increasing focus on edge device optimization</a:t>
            </a:r>
          </a:p>
          <a:p>
            <a:pPr>
              <a:spcBef>
                <a:spcPts val="600"/>
              </a:spcBef>
              <a:defRPr sz="1800">
                <a:solidFill>
                  <a:srgbClr val="2D3748"/>
                </a:solidFill>
              </a:defRPr>
            </a:pPr>
            <a:r>
              <a:t>   • Memory efficiency is the top priority</a:t>
            </a:r>
          </a:p>
          <a:p>
            <a:pPr>
              <a:spcBef>
                <a:spcPts val="600"/>
              </a:spcBef>
              <a:defRPr sz="1800">
                <a:solidFill>
                  <a:srgbClr val="2D3748"/>
                </a:solidFill>
              </a:defRPr>
            </a:pPr>
            <a:r>
              <a:t>   • Cross-platform compatibility studies growing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400">
                <a:solidFill>
                  <a:srgbClr val="667EEA"/>
                </a:solidFill>
              </a:defRPr>
            </a:pPr>
            <a:r>
              <a:t>Sources (6 total)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4114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100">
                <a:solidFill>
                  <a:srgbClr val="2D3748"/>
                </a:solidFill>
              </a:defRPr>
            </a:pPr>
            <a:r>
              <a:t>1. INT8 Quantization: Achieving 4x Model Compres (arXiv) - 1</a:t>
            </a:r>
          </a:p>
          <a:p>
            <a:pPr>
              <a:spcBef>
                <a:spcPts val="400"/>
              </a:spcBef>
              <a:defRPr sz="1100">
                <a:solidFill>
                  <a:srgbClr val="2D3748"/>
                </a:solidFill>
              </a:defRPr>
            </a:pPr>
            <a:r>
              <a:t>2. On-Device LLM Inference: Techniques and Trade (Papers with Code) - 1</a:t>
            </a:r>
          </a:p>
          <a:p>
            <a:pPr>
              <a:spcBef>
                <a:spcPts val="400"/>
              </a:spcBef>
              <a:defRPr sz="1100">
                <a:solidFill>
                  <a:srgbClr val="2D3748"/>
                </a:solidFill>
              </a:defRPr>
            </a:pPr>
            <a:r>
              <a:t>3. Structured Pruning for Edge AI: A Comprehensi (arXiv) - 1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0" y="1371600"/>
            <a:ext cx="4114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100">
                <a:solidFill>
                  <a:srgbClr val="2D3748"/>
                </a:solidFill>
              </a:defRPr>
            </a:pPr>
            <a:r>
              <a:t>4. Knowledge Distillation for Efficient Mobile M (Papers with Code) - 1</a:t>
            </a:r>
          </a:p>
          <a:p>
            <a:pPr>
              <a:spcBef>
                <a:spcPts val="400"/>
              </a:spcBef>
              <a:defRPr sz="1100">
                <a:solidFill>
                  <a:srgbClr val="2D3748"/>
                </a:solidFill>
              </a:defRPr>
            </a:pPr>
            <a:r>
              <a:t>5. Mixed Precision Training for Efficient Infere (arXiv) - 1</a:t>
            </a:r>
          </a:p>
          <a:p>
            <a:pPr>
              <a:spcBef>
                <a:spcPts val="400"/>
              </a:spcBef>
              <a:defRPr sz="1100">
                <a:solidFill>
                  <a:srgbClr val="2D3748"/>
                </a:solidFill>
              </a:defRPr>
            </a:pPr>
            <a:r>
              <a:t>6. Neural Architecture Search for Efficient Mobi (arXiv) - 1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64BA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FFFFFF"/>
                </a:solidFill>
              </a:defRPr>
            </a:pPr>
            <a:r>
              <a:t>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47472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2000">
                <a:solidFill>
                  <a:srgbClr val="FFFFFF"/>
                </a:solidFill>
              </a:defRPr>
            </a:pPr>
            <a:r>
              <a:t>📄 Download the full PDF report</a:t>
            </a:r>
          </a:p>
          <a:p>
            <a:pPr>
              <a:spcBef>
                <a:spcPts val="1000"/>
              </a:spcBef>
              <a:defRPr sz="2000">
                <a:solidFill>
                  <a:srgbClr val="FFFFFF"/>
                </a:solidFill>
              </a:defRPr>
            </a:pPr>
            <a:r>
              <a:t>🎤 Listen to the audio podcast</a:t>
            </a:r>
          </a:p>
          <a:p>
            <a:pPr>
              <a:spcBef>
                <a:spcPts val="1000"/>
              </a:spcBef>
              <a:defRPr sz="2000">
                <a:solidFill>
                  <a:srgbClr val="FFFFFF"/>
                </a:solidFill>
              </a:defRPr>
            </a:pPr>
            <a:r>
              <a:t>📊 View detailed analysis dashboard</a:t>
            </a:r>
          </a:p>
          <a:p>
            <a:pPr>
              <a:spcBef>
                <a:spcPts val="1000"/>
              </a:spcBef>
              <a:defRPr sz="2000">
                <a:solidFill>
                  <a:srgbClr val="FFFFFF"/>
                </a:solidFill>
              </a:defRPr>
            </a:pPr>
            <a:r>
              <a:t>🔗 Access all paper resources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